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9" r:id="rId7"/>
    <p:sldId id="262" r:id="rId8"/>
    <p:sldId id="260" r:id="rId9"/>
    <p:sldId id="261" r:id="rId10"/>
    <p:sldId id="263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29C25-B7BE-47EA-8E0D-F3A5ACC5C59E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D4CDC-F87B-4046-932A-BE294F98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50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D4CDC-F87B-4046-932A-BE294F9809E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6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0D83F-DDD4-A26A-8AE3-FF01BE59C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647664-1097-AA4E-D826-7E938AF8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349FA4-9FBC-25E5-39B3-99BA781F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1958D-170E-0776-8E60-4E34C137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7010D2-1DF7-82F6-7063-0EF46666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63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A859B-6944-E145-6245-627DFC0C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C5819D-4C4D-D64A-3C87-EEAB57D1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B5386B-EF50-F6B5-F78F-93BADD8A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6DF3EB-EE8F-2FF1-8AD0-EB35107F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845DFB-7561-49AA-1F33-03EF003F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39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D026A-98E1-D8B8-25F9-4B14775D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21500C-C703-C064-460F-D21E84C7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07B604-45DE-816C-82FD-0BE6D660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2707B2-DE96-17D4-EAA1-CE9D5E72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5F16E7-834D-2D1F-4B0D-0B4998EA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7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9B3FD-B2F2-2AB0-49D2-AFF48CB6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229B5-960F-CB0C-8184-3EEF0D14B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AD1C36-E799-AFE4-3F17-57C1426F7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E1731-9869-AD0A-387A-4BB82600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65F624-2767-B2BC-7885-062241B5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1A943F-E437-13A4-1ABE-7E47569E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02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EFE97-4EC2-1D3A-C405-A59BFEA61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707146-95D5-CB9A-9366-F93D2316D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17BA17-B55E-1F56-B8C1-CC97A4FB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0084EB-A2C6-0044-D09D-B0D8088D8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DB51E9-CEBB-2A53-DD34-2142E5EC1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A0D6E7-F751-692C-556B-481A9665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34BF3F-75DC-84D1-8B0F-CC69BD1C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568E30-CD99-5D32-9D8A-FB7D97F9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46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E1B0E-E0F9-6F5A-604A-53EEA116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EFBA14-AB7A-024C-F3AF-3473EFD9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A71962-AC54-3246-C2DD-467BF2AC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137CF8-E077-8C36-717B-A44C4C00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12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236565-24E3-EF51-3966-56A14CB9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863C85-0827-1500-3CFA-3ECEB2A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B97905-F3F0-D1D1-E755-7E478CDF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77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1000B-4A85-7F1C-0598-76B2FFE3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30A1C-B610-BE03-AA12-A04F3650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3F535E-AF97-6CC7-DAB1-E7A468F7C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3148E4-3B94-E17C-927B-8B77606B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100D9F-C265-FD23-01C1-EFD6ECF1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649CF4-8D4E-342F-0E09-EF7BC195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68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DAA47-C283-48E8-185C-CA32E4AF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79C997-F3FF-C795-19A9-3D1F95F65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F17E30-F054-09AE-3D94-56345ABF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BC2A52-7795-C012-5433-4417933F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FB3CEA-796F-0218-334F-C5F1DF81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60BB83-9E47-512C-DDCD-C2E47A86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47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A0790-3E79-2D7E-7FBA-B7196F54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C0EFA4-D060-E0CF-6AAD-48DA57ADE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800E8-6D48-9288-4542-06FF718A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CFF5C4-471E-99F1-E34E-8F5A3BD3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A2285F-AE61-63BB-006C-E2C90C34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FAF081-F1F4-C578-73FB-35881B580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A79582-1D7E-438A-3CB0-48DA638FD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63088F-67A0-BB75-72AF-76978440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960C7-7E1F-9092-A632-D221CD02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1F8450-B5AD-F91A-5344-449891D4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51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4D3F2-F9EE-8CC0-7660-EF37E65A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3FE648-3BB4-E3CA-D58D-9E2786442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919E0-9DCC-3BBC-73D6-0F488BB6D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98F16-939E-4175-BCD0-A3C9C4DDD757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60A24-E487-F524-6FAB-C6B304114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2BFF1-EE8A-52F7-1C1A-EE6B4BDC0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44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ОБЛАЧНЫЕ СЕРВИСЫ — Что это такое, их виды, как перейти в облако + программы">
            <a:extLst>
              <a:ext uri="{FF2B5EF4-FFF2-40B4-BE49-F238E27FC236}">
                <a16:creationId xmlns:a16="http://schemas.microsoft.com/office/drawing/2014/main" id="{08C4F0E1-98A0-92DA-BC12-B32A8CD14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A0FC5-4A66-8968-51BB-AEC6073970B0}"/>
              </a:ext>
            </a:extLst>
          </p:cNvPr>
          <p:cNvSpPr txBox="1"/>
          <p:nvPr/>
        </p:nvSpPr>
        <p:spPr>
          <a:xfrm>
            <a:off x="4237032" y="-76200"/>
            <a:ext cx="5977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Облачные Сервисы</a:t>
            </a:r>
            <a:endParaRPr lang="ru-RU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36A44-2C1B-DECD-DC4C-CA4AAE630E40}"/>
              </a:ext>
            </a:extLst>
          </p:cNvPr>
          <p:cNvSpPr txBox="1"/>
          <p:nvPr/>
        </p:nvSpPr>
        <p:spPr>
          <a:xfrm>
            <a:off x="11102340" y="6673334"/>
            <a:ext cx="1158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Джойс Р.Р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B96DD-A204-E26D-75FB-32D485D6CC71}"/>
              </a:ext>
            </a:extLst>
          </p:cNvPr>
          <p:cNvSpPr txBox="1"/>
          <p:nvPr/>
        </p:nvSpPr>
        <p:spPr>
          <a:xfrm>
            <a:off x="-68670" y="5334000"/>
            <a:ext cx="6256200" cy="175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Цель презентации: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Рассмотреть, что это.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Объяснить принципы их работы.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Определить ключевые характеристики и критерии выбора.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Рассмотреть, какие сервисы полезны студентам.</a:t>
            </a:r>
          </a:p>
          <a:p>
            <a:endParaRPr lang="ru-RU" b="1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2595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696B08-614A-61F3-117F-2A27462D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813" y="0"/>
            <a:ext cx="6844605" cy="6858000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5A3583-F03C-6B1C-E9F1-D0E227F51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4792" y="0"/>
            <a:ext cx="5877208" cy="6858000"/>
          </a:xfrm>
        </p:spPr>
      </p:pic>
    </p:spTree>
    <p:extLst>
      <p:ext uri="{BB962C8B-B14F-4D97-AF65-F5344CB8AC3E}">
        <p14:creationId xmlns:p14="http://schemas.microsoft.com/office/powerpoint/2010/main" val="426236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858EF-AFF6-CBAD-6DC0-6076229C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692"/>
            <a:ext cx="12192000" cy="566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8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gions map">
            <a:extLst>
              <a:ext uri="{FF2B5EF4-FFF2-40B4-BE49-F238E27FC236}">
                <a16:creationId xmlns:a16="http://schemas.microsoft.com/office/drawing/2014/main" id="{12567677-7B9B-AF0D-54A6-0182EB23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" y="666433"/>
            <a:ext cx="12168188" cy="57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47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Распределительная сеть дата-центров мирового масштаба — сердце империи  Google / Хабр">
            <a:extLst>
              <a:ext uri="{FF2B5EF4-FFF2-40B4-BE49-F238E27FC236}">
                <a16:creationId xmlns:a16="http://schemas.microsoft.com/office/drawing/2014/main" id="{1A5B8EC4-A016-9B61-9C1B-BECE02C0A4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0"/>
            <a:ext cx="321945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5CDE0D-189D-1FE0-C66D-E0BCCB618C4E}"/>
              </a:ext>
            </a:extLst>
          </p:cNvPr>
          <p:cNvSpPr txBox="1"/>
          <p:nvPr/>
        </p:nvSpPr>
        <p:spPr>
          <a:xfrm>
            <a:off x="9166914" y="3301242"/>
            <a:ext cx="3219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Один из самых мелких расперделительных дата центров </a:t>
            </a:r>
            <a:r>
              <a:rPr lang="en-US" dirty="0"/>
              <a:t>Google</a:t>
            </a:r>
          </a:p>
        </p:txBody>
      </p:sp>
      <p:pic>
        <p:nvPicPr>
          <p:cNvPr id="4100" name="Picture 4" descr="Распределительная сеть дата-центров мирового масштаба — сердце империи  Google - Новости рынка ЦОД, обзор инженерных решений Дата-Центров">
            <a:extLst>
              <a:ext uri="{FF2B5EF4-FFF2-40B4-BE49-F238E27FC236}">
                <a16:creationId xmlns:a16="http://schemas.microsoft.com/office/drawing/2014/main" id="{B1483749-65AB-F4B1-BD21-848D0F75E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015" y="0"/>
            <a:ext cx="4982535" cy="331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0ACE591F-787A-DB4D-05C0-41641F11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90015" cy="392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F03C0-28A6-A958-D719-87A83204F4F1}"/>
              </a:ext>
            </a:extLst>
          </p:cNvPr>
          <p:cNvSpPr txBox="1"/>
          <p:nvPr/>
        </p:nvSpPr>
        <p:spPr>
          <a:xfrm>
            <a:off x="350178" y="3929974"/>
            <a:ext cx="310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Контейнерный ЦОД в Дугласе</a:t>
            </a:r>
            <a:endParaRPr lang="en-US" dirty="0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BEF6CFDF-A32A-3163-C0DC-41320B4A7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015" y="3301242"/>
            <a:ext cx="2458902" cy="241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A8640-DCB7-7966-EAFB-A2DBDBB9CE8E}"/>
              </a:ext>
            </a:extLst>
          </p:cNvPr>
          <p:cNvSpPr txBox="1"/>
          <p:nvPr/>
        </p:nvSpPr>
        <p:spPr>
          <a:xfrm>
            <a:off x="3951868" y="5758056"/>
            <a:ext cx="2655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Запатентованная «контейнерная башня»</a:t>
            </a:r>
            <a:endParaRPr lang="en-US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BD5D1384-CE2C-16F4-D51F-E64A03F10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74" y="3301242"/>
            <a:ext cx="2378318" cy="221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7851E1-5FC7-6ED5-58B5-A6C1722FAD24}"/>
              </a:ext>
            </a:extLst>
          </p:cNvPr>
          <p:cNvSpPr txBox="1"/>
          <p:nvPr/>
        </p:nvSpPr>
        <p:spPr>
          <a:xfrm>
            <a:off x="6823495" y="5388724"/>
            <a:ext cx="1906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Принцип охлаждения воздуха в контейнере</a:t>
            </a:r>
            <a:endParaRPr lang="en-US" dirty="0"/>
          </a:p>
        </p:txBody>
      </p:sp>
      <p:pic>
        <p:nvPicPr>
          <p:cNvPr id="4110" name="Picture 14">
            <a:extLst>
              <a:ext uri="{FF2B5EF4-FFF2-40B4-BE49-F238E27FC236}">
                <a16:creationId xmlns:a16="http://schemas.microsoft.com/office/drawing/2014/main" id="{E84C062D-4143-A13E-6758-F112FD8EA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08" y="4785065"/>
            <a:ext cx="3939071" cy="207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502D00-FCF7-BFDD-5BE1-5F5FDDDE02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598" y="4408298"/>
            <a:ext cx="3112402" cy="244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3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8" name="Picture 12">
            <a:extLst>
              <a:ext uri="{FF2B5EF4-FFF2-40B4-BE49-F238E27FC236}">
                <a16:creationId xmlns:a16="http://schemas.microsoft.com/office/drawing/2014/main" id="{5FDD18E9-95D4-1030-6389-3360D6D55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0" y="0"/>
            <a:ext cx="5461000" cy="637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A3CB47B-E130-FADD-AABC-5A9BE61AA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741" y="0"/>
            <a:ext cx="6802741" cy="637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1D941C-30E5-2282-9B24-5CBE08C24AE4}"/>
              </a:ext>
            </a:extLst>
          </p:cNvPr>
          <p:cNvSpPr txBox="1"/>
          <p:nvPr/>
        </p:nvSpPr>
        <p:spPr>
          <a:xfrm>
            <a:off x="425447" y="6488668"/>
            <a:ext cx="6128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Дата-центр в Сен-</a:t>
            </a:r>
            <a:r>
              <a:rPr lang="ru-RU" dirty="0" err="1"/>
              <a:t>Гислене</a:t>
            </a:r>
            <a:r>
              <a:rPr lang="ru-RU" dirty="0"/>
              <a:t> на карте поисковика </a:t>
            </a:r>
            <a:r>
              <a:rPr lang="ru-RU" dirty="0" err="1"/>
              <a:t>bing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3A123-460C-8956-B9C8-35C8E9238281}"/>
              </a:ext>
            </a:extLst>
          </p:cNvPr>
          <p:cNvSpPr txBox="1"/>
          <p:nvPr/>
        </p:nvSpPr>
        <p:spPr>
          <a:xfrm>
            <a:off x="7203056" y="6488668"/>
            <a:ext cx="6159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Дата-центр в Сен-</a:t>
            </a:r>
            <a:r>
              <a:rPr lang="ru-RU" dirty="0" err="1"/>
              <a:t>Гислене</a:t>
            </a:r>
            <a:r>
              <a:rPr lang="en-US" dirty="0"/>
              <a:t> </a:t>
            </a:r>
            <a:r>
              <a:rPr lang="ru-RU" dirty="0"/>
              <a:t>на карте Google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51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FE9D48-91D2-0B56-33AA-42A89674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479608"/>
            <a:ext cx="12068175" cy="601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8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060F7FA-29F2-0093-B5A0-0BF824A3C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30004"/>
              </p:ext>
            </p:extLst>
          </p:nvPr>
        </p:nvGraphicFramePr>
        <p:xfrm>
          <a:off x="1" y="1"/>
          <a:ext cx="12191999" cy="68580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399">
                  <a:extLst>
                    <a:ext uri="{9D8B030D-6E8A-4147-A177-3AD203B41FA5}">
                      <a16:colId xmlns:a16="http://schemas.microsoft.com/office/drawing/2014/main" val="349726331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101636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4695551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688903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1379235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471624941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02776079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38898491"/>
                    </a:ext>
                  </a:extLst>
                </a:gridCol>
                <a:gridCol w="1010703">
                  <a:extLst>
                    <a:ext uri="{9D8B030D-6E8A-4147-A177-3AD203B41FA5}">
                      <a16:colId xmlns:a16="http://schemas.microsoft.com/office/drawing/2014/main" val="3646346340"/>
                    </a:ext>
                  </a:extLst>
                </a:gridCol>
                <a:gridCol w="800690">
                  <a:extLst>
                    <a:ext uri="{9D8B030D-6E8A-4147-A177-3AD203B41FA5}">
                      <a16:colId xmlns:a16="http://schemas.microsoft.com/office/drawing/2014/main" val="1696467727"/>
                    </a:ext>
                  </a:extLst>
                </a:gridCol>
                <a:gridCol w="891091">
                  <a:extLst>
                    <a:ext uri="{9D8B030D-6E8A-4147-A177-3AD203B41FA5}">
                      <a16:colId xmlns:a16="http://schemas.microsoft.com/office/drawing/2014/main" val="4271075705"/>
                    </a:ext>
                  </a:extLst>
                </a:gridCol>
                <a:gridCol w="1498065">
                  <a:extLst>
                    <a:ext uri="{9D8B030D-6E8A-4147-A177-3AD203B41FA5}">
                      <a16:colId xmlns:a16="http://schemas.microsoft.com/office/drawing/2014/main" val="2726578262"/>
                    </a:ext>
                  </a:extLst>
                </a:gridCol>
                <a:gridCol w="904851">
                  <a:extLst>
                    <a:ext uri="{9D8B030D-6E8A-4147-A177-3AD203B41FA5}">
                      <a16:colId xmlns:a16="http://schemas.microsoft.com/office/drawing/2014/main" val="2952913176"/>
                    </a:ext>
                  </a:extLst>
                </a:gridCol>
              </a:tblGrid>
              <a:tr h="1011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Сервис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Бесплатное место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Платные планы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устройств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Совместная работа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другими сервисами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 загрузки (Мбит/с)</a:t>
                      </a:r>
                      <a:endParaRPr lang="ru-RU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шифрования</a:t>
                      </a:r>
                      <a:endParaRPr lang="ru-RU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Защита данных</a:t>
                      </a:r>
                      <a:endParaRPr lang="ru-RU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Резервное копирование</a:t>
                      </a:r>
                      <a:endParaRPr lang="ru-RU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1570945656"/>
                  </a:ext>
                </a:extLst>
              </a:tr>
              <a:tr h="8297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Drive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$1.99/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(100 ГБ)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(шифрование SSL)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устройства (Windows, Mac,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Google Docs, Sheets, Slides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Google Workspace, Gmail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Бесплатное хранилище для Google сервисов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Широко используется для хранения файлов и документов.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200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 при хранении и передаче, управление доступом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2637647598"/>
                  </a:ext>
                </a:extLst>
              </a:tr>
              <a:tr h="6756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Dropbox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$9.99/мес (2 ТБ)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(шифрование AES-256)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устройства (Windows, Mac,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документы, таблицы, PDF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Microsoft Office, Slack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Легкость в обмене файлами и синхронизации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Популярное для совместного использования.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SSL/TLS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данных, двухфакторная аутентификация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3855570255"/>
                  </a:ext>
                </a:extLst>
              </a:tr>
              <a:tr h="8297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OneDrive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$1.99/мес (100 ГБ)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(шифрование SSL)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Windows, Mac, iOS, Android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Office 365,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Teams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Microsoft Office, Teams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Хорошо интегрируется с Windows и Microsoft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Windows </a:t>
                      </a:r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Office.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 при хранении и передаче, двухфакторная аутентификация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резервного копирования для Windows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253374740"/>
                  </a:ext>
                </a:extLst>
              </a:tr>
              <a:tr h="101728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Box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$5.80/мес (100 ГБ)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 (двухфакторная аутентификация)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устройства (Windows, Mac, iOS, Android)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документы, рабочие группы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Google Workspace, Microsoft 365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Простое совместное использование файлов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Подходит для бизнеса и крупных команд.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данных, управление доступом, двухфакторная аутентификация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1747823515"/>
                  </a:ext>
                </a:extLst>
              </a:tr>
              <a:tr h="8183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iCloud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$0.99/мес (50 ГБ)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(шифрование SSL)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устройств Apple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iWork (Pages, Numbers, Keynote)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продуктами Apple (Mac, iOS)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Идеально для пользователей Apple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Облачное хранилище от 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Оптимально до 150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AES-128/256, 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 как при передаче, так и при хранении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резервного копирования для устройств Apple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2851184485"/>
                  </a:ext>
                </a:extLst>
              </a:tr>
              <a:tr h="82975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Drive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$19.99/год (100 ГБ)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(шифрование SSL)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устройства (Windows, Mac, iOS, Android)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обмен фото, видео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 Amazon Photos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Удобен для хранения медиафайлов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Хранилище для медиафайлов и документов.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данных при хранении и передаче, двухфакторная аутентификация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/>
                </a:tc>
                <a:extLst>
                  <a:ext uri="{0D108BD9-81ED-4DB2-BD59-A6C34878D82A}">
                    <a16:rowId xmlns:a16="http://schemas.microsoft.com/office/drawing/2014/main" val="3394285249"/>
                  </a:ext>
                </a:extLst>
              </a:tr>
              <a:tr h="8464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Mega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 ГБ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 $5.99/мес (400 ГБ)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 (шифрование AES-128)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устройства (Windows, Mac,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05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Да, обмен файлами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 с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Google Drive, Dropbox</a:t>
                      </a:r>
                      <a:endParaRPr lang="ru-RU" sz="105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высокое бесплатное хранилище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Облачное хранилище с высоким уровнем безопасности.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100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SSL/TLS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на стороне клиента, HTTPS для передачи</a:t>
                      </a:r>
                    </a:p>
                  </a:txBody>
                  <a:tcPr marL="18206" marR="18206" marT="9103" marB="91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-------------------</a:t>
                      </a:r>
                      <a:endParaRPr lang="ru-RU" sz="105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 anchor="ctr"/>
                </a:tc>
                <a:extLst>
                  <a:ext uri="{0D108BD9-81ED-4DB2-BD59-A6C34878D82A}">
                    <a16:rowId xmlns:a16="http://schemas.microsoft.com/office/drawing/2014/main" val="95722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6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BA1B18-12E8-20EE-A0C3-0A1AC5B21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6987" cy="33451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9EF934-D1BA-5A4B-0427-D24EC53DE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12" y="0"/>
            <a:ext cx="5946987" cy="334518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7F081AE-1ADA-51AC-5FB5-D56F33253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012" y="3512818"/>
            <a:ext cx="5946988" cy="334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02D890E-5C89-C8D3-18EB-BABC56341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12820"/>
            <a:ext cx="5943600" cy="334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68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B0C5BA-6648-C247-C040-86C640735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42760" cy="38855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A264B8-0C8E-9F5C-CF4D-CC679C3EC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58" y="3843382"/>
            <a:ext cx="5788342" cy="30146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AF9F72-3F2A-C407-3C4C-66A523906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134" y="79102"/>
            <a:ext cx="4414630" cy="3764280"/>
          </a:xfrm>
          <a:prstGeom prst="rect">
            <a:avLst/>
          </a:prstGeom>
        </p:spPr>
      </p:pic>
      <p:pic>
        <p:nvPicPr>
          <p:cNvPr id="4098" name="Picture 2" descr="Куда идут «облака» | КомпьютерПресс">
            <a:extLst>
              <a:ext uri="{FF2B5EF4-FFF2-40B4-BE49-F238E27FC236}">
                <a16:creationId xmlns:a16="http://schemas.microsoft.com/office/drawing/2014/main" id="{C313EB13-B8BD-D80C-BFE9-CE58E7E0C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96" y="3558540"/>
            <a:ext cx="6486525" cy="329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536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399662-1FF6-EF8A-EB95-7434876EE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40984"/>
              </p:ext>
            </p:extLst>
          </p:nvPr>
        </p:nvGraphicFramePr>
        <p:xfrm>
          <a:off x="0" y="0"/>
          <a:ext cx="12192000" cy="696023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176557043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314881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791329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470850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889033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508646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7120397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478618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8445585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17833393"/>
                    </a:ext>
                  </a:extLst>
                </a:gridCol>
              </a:tblGrid>
              <a:tr h="488704">
                <a:tc>
                  <a:txBody>
                    <a:bodyPr/>
                    <a:lstStyle/>
                    <a:p>
                      <a:r>
                        <a:rPr lang="ru-RU" sz="1100" b="1"/>
                        <a:t>Сервис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Описание</a:t>
                      </a:r>
                      <a:endParaRPr lang="ru-RU" sz="1100" dirty="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Скорость загрузки (Мбит/с)</a:t>
                      </a:r>
                      <a:endParaRPr lang="ru-RU" sz="1100" dirty="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/>
                        <a:t>Скорость скачивания (Мбит/с)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Типы шифрования</a:t>
                      </a:r>
                      <a:endParaRPr lang="ru-RU" sz="1100" dirty="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/>
                        <a:t>Защита данных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/>
                        <a:t>Доступные платформы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/>
                        <a:t>Совместная работа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/>
                        <a:t>Резервное копирование</a:t>
                      </a:r>
                      <a:endParaRPr lang="ru-RU" sz="1100" dirty="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/>
                        <a:t>Стоимость платных тарифов</a:t>
                      </a:r>
                      <a:endParaRPr lang="ru-RU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11112"/>
                  </a:ext>
                </a:extLst>
              </a:tr>
              <a:tr h="954236">
                <a:tc>
                  <a:txBody>
                    <a:bodyPr/>
                    <a:lstStyle/>
                    <a:p>
                      <a:r>
                        <a:rPr lang="en-US" sz="1100" b="1"/>
                        <a:t>Google Drive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Широко используется для хранения файлов и документов.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200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До 200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AES-256, 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Шифрование данных при хранении и передаче, управление доступом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$1.99/мес за 100 ГБ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305321"/>
                  </a:ext>
                </a:extLst>
              </a:tr>
              <a:tr h="721470">
                <a:tc>
                  <a:txBody>
                    <a:bodyPr/>
                    <a:lstStyle/>
                    <a:p>
                      <a:r>
                        <a:rPr lang="en-US" sz="1100" b="1"/>
                        <a:t>Dropbox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Популярное для совместного использования.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AES-256, SSL/TLS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Шифрование данных, двухфакторная аутентификация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$9.99/мес за 2 ТБ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861447"/>
                  </a:ext>
                </a:extLst>
              </a:tr>
              <a:tr h="1031824">
                <a:tc>
                  <a:txBody>
                    <a:bodyPr/>
                    <a:lstStyle/>
                    <a:p>
                      <a:r>
                        <a:rPr lang="en-US" sz="1100" b="1"/>
                        <a:t>OneDrive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Интеграция с </a:t>
                      </a:r>
                      <a:r>
                        <a:rPr lang="en-US" sz="1100" dirty="0"/>
                        <a:t>Microsoft Windows </a:t>
                      </a:r>
                      <a:r>
                        <a:rPr lang="ru-RU" sz="1100" dirty="0"/>
                        <a:t>и </a:t>
                      </a:r>
                      <a:r>
                        <a:rPr lang="en-US" sz="1100" dirty="0"/>
                        <a:t>Office.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AES-256, 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Шифрование данных при хранении и передаче, двухфакторная аутентификация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Поддержка резервного копирования для Windows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$1.99/мес за 100 ГБ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22917"/>
                  </a:ext>
                </a:extLst>
              </a:tr>
              <a:tr h="1031824">
                <a:tc>
                  <a:txBody>
                    <a:bodyPr/>
                    <a:lstStyle/>
                    <a:p>
                      <a:r>
                        <a:rPr lang="en-US" sz="1100" b="1"/>
                        <a:t>Box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Подходит для бизнеса и крупных команд.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AES-256, 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Шифрование данных, управление доступом, двухфакторная аутентификация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$5.00/мес за 100 ГБ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031953"/>
                  </a:ext>
                </a:extLst>
              </a:tr>
              <a:tr h="799059">
                <a:tc>
                  <a:txBody>
                    <a:bodyPr/>
                    <a:lstStyle/>
                    <a:p>
                      <a:r>
                        <a:rPr lang="en-US" sz="1100" b="1"/>
                        <a:t>iCloud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Облачное хранилище от </a:t>
                      </a:r>
                      <a:r>
                        <a:rPr lang="en-US" sz="1100" dirty="0"/>
                        <a:t>Apple.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Оптимально до 150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150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AES-128/256, 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Шифрование данных как при передаче, так и при хранении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iOS, macOS, Windows (</a:t>
                      </a:r>
                      <a:r>
                        <a:rPr lang="ru-RU" sz="1100"/>
                        <a:t>требуется </a:t>
                      </a:r>
                      <a:r>
                        <a:rPr lang="en-US" sz="1100"/>
                        <a:t>iCloud </a:t>
                      </a:r>
                      <a:r>
                        <a:rPr lang="ru-RU" sz="1100"/>
                        <a:t>для </a:t>
                      </a:r>
                      <a:r>
                        <a:rPr lang="en-US" sz="1100"/>
                        <a:t>Windows)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Поддержка резервного копирования для устройств Apple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$0.99/мес за 50 ГБ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2822"/>
                  </a:ext>
                </a:extLst>
              </a:tr>
              <a:tr h="1031824">
                <a:tc>
                  <a:txBody>
                    <a:bodyPr/>
                    <a:lstStyle/>
                    <a:p>
                      <a:r>
                        <a:rPr lang="en-US" sz="1100" b="1"/>
                        <a:t>Amazon Drive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Хранилище для медиафайлов и документов.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AES-256, 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Шифрование данных при хранении и передаче, двухфакторная аутентификация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Да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Автоматическое резервное копирование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/>
                        <a:t>От $1.99/мес за 100 ГБ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367923"/>
                  </a:ext>
                </a:extLst>
              </a:tr>
              <a:tr h="799059">
                <a:tc>
                  <a:txBody>
                    <a:bodyPr/>
                    <a:lstStyle/>
                    <a:p>
                      <a:r>
                        <a:rPr lang="en-US" sz="1100" b="1"/>
                        <a:t>Mega</a:t>
                      </a:r>
                      <a:endParaRPr lang="en-US" sz="1100"/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Облачное хранилище с высоким уровнем безопасности.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До 100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AES-256, SSL/TLS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Шифрование на стороне клиента, HTTPS для передачи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Web, Windows, macOS, iOS, Android</a:t>
                      </a:r>
                    </a:p>
                  </a:txBody>
                  <a:tcPr marL="18206" marR="18206" marT="9103" marB="91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18206" marR="18206" marT="9103" marB="9103">
                    <a:lnL>
                      <a:noFill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8206" marR="18206" marT="9103" marB="9103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18206" marR="18206" marT="9103" marB="9103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925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81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DBD3-7CD1-B257-27B4-67293C98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608" y="110491"/>
            <a:ext cx="3500887" cy="1790416"/>
          </a:xfrm>
        </p:spPr>
        <p:txBody>
          <a:bodyPr/>
          <a:lstStyle/>
          <a:p>
            <a:pPr algn="just">
              <a:buNone/>
            </a:pPr>
            <a:r>
              <a:rPr lang="ru-RU" sz="1200" dirty="0"/>
              <a:t>Дата центры согласно стандарту TIA EIA 942 делятся на </a:t>
            </a:r>
            <a:r>
              <a:rPr lang="ru-RU" sz="1200" b="1" dirty="0"/>
              <a:t>4 класса по уровню надежности</a:t>
            </a:r>
            <a:r>
              <a:rPr lang="ru-RU" sz="1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 err="1"/>
              <a:t>Tier</a:t>
            </a:r>
            <a:r>
              <a:rPr lang="ru-RU" sz="1200" b="1" dirty="0"/>
              <a:t> I</a:t>
            </a:r>
            <a:r>
              <a:rPr lang="ru-RU" sz="1200" dirty="0"/>
              <a:t>: время простоя 28,8 часов в год, коэффициент отказоустойчивости 99,671%;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 err="1"/>
              <a:t>Tier</a:t>
            </a:r>
            <a:r>
              <a:rPr lang="ru-RU" sz="1200" b="1" dirty="0"/>
              <a:t> II</a:t>
            </a:r>
            <a:r>
              <a:rPr lang="ru-RU" sz="1200" dirty="0"/>
              <a:t>: 22,0 часа в год, 99,749%;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 err="1"/>
              <a:t>Tier</a:t>
            </a:r>
            <a:r>
              <a:rPr lang="ru-RU" sz="1200" b="1" dirty="0"/>
              <a:t> III</a:t>
            </a:r>
            <a:r>
              <a:rPr lang="ru-RU" sz="1200" dirty="0"/>
              <a:t>: 1,6 часа в год, 99,982%;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200" b="1" dirty="0" err="1"/>
              <a:t>Tier</a:t>
            </a:r>
            <a:r>
              <a:rPr lang="ru-RU" sz="1200" b="1" dirty="0"/>
              <a:t> IV</a:t>
            </a:r>
            <a:r>
              <a:rPr lang="ru-RU" sz="1200" dirty="0"/>
              <a:t>: 0,4 часа в год, 99,995%.</a:t>
            </a:r>
          </a:p>
          <a:p>
            <a:endParaRPr lang="en-US" dirty="0"/>
          </a:p>
        </p:txBody>
      </p:sp>
      <p:pic>
        <p:nvPicPr>
          <p:cNvPr id="1026" name="Picture 2" descr="Преимущества аренды сервера за рубежом - EFSOL">
            <a:extLst>
              <a:ext uri="{FF2B5EF4-FFF2-40B4-BE49-F238E27FC236}">
                <a16:creationId xmlns:a16="http://schemas.microsoft.com/office/drawing/2014/main" id="{B69BED47-2DBC-E2C2-08A6-984D882FD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608" y="1900907"/>
            <a:ext cx="4336930" cy="211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F13B631-A142-3AD0-B5D8-881C10684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8" y="110491"/>
            <a:ext cx="38481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Схема установки АС Ревизор">
            <a:extLst>
              <a:ext uri="{FF2B5EF4-FFF2-40B4-BE49-F238E27FC236}">
                <a16:creationId xmlns:a16="http://schemas.microsoft.com/office/drawing/2014/main" id="{040E4478-DB83-F297-69D8-98A70E778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608" y="3967402"/>
            <a:ext cx="3848100" cy="167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8557AB-417F-AE06-C74F-45FDA037EA74}"/>
              </a:ext>
            </a:extLst>
          </p:cNvPr>
          <p:cNvSpPr txBox="1"/>
          <p:nvPr/>
        </p:nvSpPr>
        <p:spPr>
          <a:xfrm>
            <a:off x="3754555" y="5804389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>
                <a:latin typeface="Alasassy Caps" panose="020F0502020204030204" pitchFamily="2" charset="0"/>
              </a:rPr>
              <a:t>Принципиальная схема установки АС «Ревизор» в сеть провайдера</a:t>
            </a:r>
            <a:endParaRPr lang="en-US" sz="1200" b="1" dirty="0">
              <a:latin typeface="Alasassy Caps" panose="020F0502020204030204" pitchFamily="2" charset="0"/>
            </a:endParaRPr>
          </a:p>
        </p:txBody>
      </p:sp>
      <p:pic>
        <p:nvPicPr>
          <p:cNvPr id="1034" name="Picture 10" descr="Ревизор в аппаратном исполнении">
            <a:extLst>
              <a:ext uri="{FF2B5EF4-FFF2-40B4-BE49-F238E27FC236}">
                <a16:creationId xmlns:a16="http://schemas.microsoft.com/office/drawing/2014/main" id="{291A1CFF-3F58-7BA1-D47C-A354E75EB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192" y="396637"/>
            <a:ext cx="2630513" cy="350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438A6C-ABED-2F00-59FF-FAF160027DA7}"/>
              </a:ext>
            </a:extLst>
          </p:cNvPr>
          <p:cNvSpPr txBox="1"/>
          <p:nvPr/>
        </p:nvSpPr>
        <p:spPr>
          <a:xfrm>
            <a:off x="8694997" y="4013973"/>
            <a:ext cx="3048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latin typeface="Alasassy Caps" panose="020F0502020204030204" pitchFamily="2" charset="0"/>
              </a:rPr>
              <a:t>АС «Ревизор» в аппаратном исполнении</a:t>
            </a:r>
            <a:endParaRPr lang="en-US" sz="1200" b="1" dirty="0">
              <a:latin typeface="Alasassy Caps" panose="020F0502020204030204" pitchFamily="2" charset="0"/>
            </a:endParaRPr>
          </a:p>
        </p:txBody>
      </p:sp>
      <p:pic>
        <p:nvPicPr>
          <p:cNvPr id="1036" name="Picture 12" descr="Технические аспекты блокировки интернета в России. Проблемы и ...">
            <a:extLst>
              <a:ext uri="{FF2B5EF4-FFF2-40B4-BE49-F238E27FC236}">
                <a16:creationId xmlns:a16="http://schemas.microsoft.com/office/drawing/2014/main" id="{4CA0DF62-BC07-BC2D-384A-6FD1FA77D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125" y="4290972"/>
            <a:ext cx="3805875" cy="214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89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C2CFE5F7-A88B-FF3B-16B1-D3E3C01B0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54507" cy="491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Облачные технологии: тенденции развития, примеры исполнения">
            <a:extLst>
              <a:ext uri="{FF2B5EF4-FFF2-40B4-BE49-F238E27FC236}">
                <a16:creationId xmlns:a16="http://schemas.microsoft.com/office/drawing/2014/main" id="{BD7EC93C-FB09-120B-7B32-FC607965AA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04" y="3549595"/>
            <a:ext cx="5463396" cy="329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6328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990</Words>
  <Application>Microsoft Office PowerPoint</Application>
  <PresentationFormat>Widescreen</PresentationFormat>
  <Paragraphs>202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Alasassy Caps</vt:lpstr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 Roberto</dc:creator>
  <cp:lastModifiedBy>Roberto</cp:lastModifiedBy>
  <cp:revision>5</cp:revision>
  <dcterms:created xsi:type="dcterms:W3CDTF">2025-02-17T16:07:39Z</dcterms:created>
  <dcterms:modified xsi:type="dcterms:W3CDTF">2025-04-06T15:14:36Z</dcterms:modified>
</cp:coreProperties>
</file>