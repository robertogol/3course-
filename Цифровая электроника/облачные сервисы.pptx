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33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429C25-B7BE-47EA-8E0D-F3A5ACC5C59E}" type="datetimeFigureOut">
              <a:rPr lang="ru-RU" smtClean="0"/>
              <a:t>17.02.2025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1D4CDC-F87B-4046-932A-BE294F9809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9503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D4CDC-F87B-4046-932A-BE294F9809E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3966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00D83F-DDD4-A26A-8AE3-FF01BE59C7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7647664-1097-AA4E-D826-7E938AF801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349FA4-9FBC-25E5-39B3-99BA781F5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98F16-939E-4175-BCD0-A3C9C4DDD757}" type="datetimeFigureOut">
              <a:rPr lang="ru-RU" smtClean="0"/>
              <a:t>17.02.2025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B1958D-170E-0776-8E60-4E34C137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7010D2-1DF7-82F6-7063-0EF46666B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41588-4139-4C41-87DB-C6F89F0B8D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9636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CA859B-6944-E145-6245-627DFC0C2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C5819D-4C4D-D64A-3C87-EEAB57D16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4B5386B-EF50-F6B5-F78F-93BADD8AC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98F16-939E-4175-BCD0-A3C9C4DDD757}" type="datetimeFigureOut">
              <a:rPr lang="ru-RU" smtClean="0"/>
              <a:t>17.02.2025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6DF3EB-EE8F-2FF1-8AD0-EB35107F5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845DFB-7561-49AA-1F33-03EF003F9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41588-4139-4C41-87DB-C6F89F0B8D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0397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ED026A-98E1-D8B8-25F9-4B14775DE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F21500C-C703-C064-460F-D21E84C74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07B604-45DE-816C-82FD-0BE6D6605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98F16-939E-4175-BCD0-A3C9C4DDD757}" type="datetimeFigureOut">
              <a:rPr lang="ru-RU" smtClean="0"/>
              <a:t>17.02.2025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2707B2-DE96-17D4-EAA1-CE9D5E728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5F16E7-834D-2D1F-4B0D-0B4998EAA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41588-4139-4C41-87DB-C6F89F0B8D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1175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39B3FD-B2F2-2AB0-49D2-AFF48CB60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2229B5-960F-CB0C-8184-3EEF0D14B9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2AD1C36-E799-AFE4-3F17-57C1426F7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03E1731-9869-AD0A-387A-4BB826002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98F16-939E-4175-BCD0-A3C9C4DDD757}" type="datetimeFigureOut">
              <a:rPr lang="ru-RU" smtClean="0"/>
              <a:t>17.02.2025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D65F624-2767-B2BC-7885-062241B5D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D1A943F-E437-13A4-1ABE-7E47569E2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41588-4139-4C41-87DB-C6F89F0B8D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1024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5EFE97-4EC2-1D3A-C405-A59BFEA61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707146-95D5-CB9A-9366-F93D2316D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517BA17-B55E-1F56-B8C1-CC97A4FBC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00084EB-A2C6-0044-D09D-B0D8088D8C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5DB51E9-CEBB-2A53-DD34-2142E5EC1A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EA0D6E7-F751-692C-556B-481A96655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98F16-939E-4175-BCD0-A3C9C4DDD757}" type="datetimeFigureOut">
              <a:rPr lang="ru-RU" smtClean="0"/>
              <a:t>17.02.2025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334BF3F-75DC-84D1-8B0F-CC69BD1C5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3568E30-CD99-5D32-9D8A-FB7D97F94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41588-4139-4C41-87DB-C6F89F0B8D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1462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6E1B0E-E0F9-6F5A-604A-53EEA1164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9EFBA14-AB7A-024C-F3AF-3473EFD90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98F16-939E-4175-BCD0-A3C9C4DDD757}" type="datetimeFigureOut">
              <a:rPr lang="ru-RU" smtClean="0"/>
              <a:t>17.02.2025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9A71962-AC54-3246-C2DD-467BF2AC1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C137CF8-E077-8C36-717B-A44C4C00C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41588-4139-4C41-87DB-C6F89F0B8D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1123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C236565-24E3-EF51-3966-56A14CB97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98F16-939E-4175-BCD0-A3C9C4DDD757}" type="datetimeFigureOut">
              <a:rPr lang="ru-RU" smtClean="0"/>
              <a:t>17.02.2025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7863C85-0827-1500-3CFA-3ECEB2AEA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B97905-F3F0-D1D1-E755-7E478CDFF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41588-4139-4C41-87DB-C6F89F0B8D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0771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91000B-4A85-7F1C-0598-76B2FFE3C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430A1C-B610-BE03-AA12-A04F3650E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43F535E-AF97-6CC7-DAB1-E7A468F7C9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D3148E4-3B94-E17C-927B-8B77606BE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98F16-939E-4175-BCD0-A3C9C4DDD757}" type="datetimeFigureOut">
              <a:rPr lang="ru-RU" smtClean="0"/>
              <a:t>17.02.2025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F100D9F-C265-FD23-01C1-EFD6ECF1F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4649CF4-8D4E-342F-0E09-EF7BC1950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41588-4139-4C41-87DB-C6F89F0B8D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9688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8DAA47-C283-48E8-185C-CA32E4AF4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479C997-F3FF-C795-19A9-3D1F95F65D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AF17E30-F054-09AE-3D94-56345ABFF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0BC2A52-7795-C012-5433-4417933F2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98F16-939E-4175-BCD0-A3C9C4DDD757}" type="datetimeFigureOut">
              <a:rPr lang="ru-RU" smtClean="0"/>
              <a:t>17.02.2025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BFB3CEA-796F-0218-334F-C5F1DF81A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D60BB83-9E47-512C-DDCD-C2E47A868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41588-4139-4C41-87DB-C6F89F0B8D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5478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1A0790-3E79-2D7E-7FBA-B7196F54E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9C0EFA4-D060-E0CF-6AAD-48DA57ADE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5800E8-6D48-9288-4542-06FF718A7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98F16-939E-4175-BCD0-A3C9C4DDD757}" type="datetimeFigureOut">
              <a:rPr lang="ru-RU" smtClean="0"/>
              <a:t>17.02.2025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CFF5C4-471E-99F1-E34E-8F5A3BD3D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A2285F-AE61-63BB-006C-E2C90C348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41588-4139-4C41-87DB-C6F89F0B8D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1636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3FAF081-F1F4-C578-73FB-35881B580D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AA79582-1D7E-438A-3CB0-48DA638FDB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63088F-67A0-BB75-72AF-769784409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98F16-939E-4175-BCD0-A3C9C4DDD757}" type="datetimeFigureOut">
              <a:rPr lang="ru-RU" smtClean="0"/>
              <a:t>17.02.2025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2960C7-7E1F-9092-A632-D221CD021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1F8450-B5AD-F91A-5344-449891D47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41588-4139-4C41-87DB-C6F89F0B8D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0514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54D3F2-F9EE-8CC0-7660-EF37E65A4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23FE648-3BB4-E3CA-D58D-9E2786442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7919E0-9DCC-3BBC-73D6-0F488BB6D7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098F16-939E-4175-BCD0-A3C9C4DDD757}" type="datetimeFigureOut">
              <a:rPr lang="ru-RU" smtClean="0"/>
              <a:t>17.02.2025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860A24-E487-F524-6FAB-C6B3041141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D2BFF1-EE8A-52F7-1C1A-EE6B4BDC01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41588-4139-4C41-87DB-C6F89F0B8D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7447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ОБЛАЧНЫЕ СЕРВИСЫ — Что это такое, их виды, как перейти в облако + программы">
            <a:extLst>
              <a:ext uri="{FF2B5EF4-FFF2-40B4-BE49-F238E27FC236}">
                <a16:creationId xmlns:a16="http://schemas.microsoft.com/office/drawing/2014/main" id="{08C4F0E1-98A0-92DA-BC12-B32A8CD145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59A0FC5-4A66-8968-51BB-AEC6073970B0}"/>
              </a:ext>
            </a:extLst>
          </p:cNvPr>
          <p:cNvSpPr txBox="1"/>
          <p:nvPr/>
        </p:nvSpPr>
        <p:spPr>
          <a:xfrm>
            <a:off x="4237032" y="-76200"/>
            <a:ext cx="59778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Облачные Сервисы</a:t>
            </a:r>
            <a:endParaRPr lang="ru-RU" sz="3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336A44-2C1B-DECD-DC4C-CA4AAE630E40}"/>
              </a:ext>
            </a:extLst>
          </p:cNvPr>
          <p:cNvSpPr txBox="1"/>
          <p:nvPr/>
        </p:nvSpPr>
        <p:spPr>
          <a:xfrm>
            <a:off x="11102340" y="6673334"/>
            <a:ext cx="1158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Джойс Р.Р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8B96DD-A204-E26D-75FB-32D485D6CC71}"/>
              </a:ext>
            </a:extLst>
          </p:cNvPr>
          <p:cNvSpPr txBox="1"/>
          <p:nvPr/>
        </p:nvSpPr>
        <p:spPr>
          <a:xfrm>
            <a:off x="-68670" y="5334000"/>
            <a:ext cx="6256200" cy="175432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r>
              <a:rPr lang="ru-RU" b="1" dirty="0"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a:rPr>
              <a:t>Цель презентации: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a:rPr>
              <a:t>Рассмотреть, что это.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a:rPr>
              <a:t>Объяснить принципы их работы.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a:rPr>
              <a:t>Определить ключевые характеристики и критерии выбора.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a:rPr>
              <a:t>Рассмотреть, какие сервисы полезны студентам.</a:t>
            </a:r>
          </a:p>
          <a:p>
            <a:endParaRPr lang="ru-RU" b="1" dirty="0"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225959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4696B08-614A-61F3-117F-2A27462DE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813" y="0"/>
            <a:ext cx="6844605" cy="6858000"/>
          </a:xfrm>
          <a:prstGeom prst="rect">
            <a:avLst/>
          </a:prstGeom>
        </p:spPr>
      </p:pic>
      <p:pic>
        <p:nvPicPr>
          <p:cNvPr id="5" name="Объект 4">
            <a:extLst>
              <a:ext uri="{FF2B5EF4-FFF2-40B4-BE49-F238E27FC236}">
                <a16:creationId xmlns:a16="http://schemas.microsoft.com/office/drawing/2014/main" id="{225A3583-F03C-6B1C-E9F1-D0E227F516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14792" y="0"/>
            <a:ext cx="5877208" cy="6858000"/>
          </a:xfrm>
        </p:spPr>
      </p:pic>
    </p:spTree>
    <p:extLst>
      <p:ext uri="{BB962C8B-B14F-4D97-AF65-F5344CB8AC3E}">
        <p14:creationId xmlns:p14="http://schemas.microsoft.com/office/powerpoint/2010/main" val="4262362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1858EF-AFF6-CBAD-6DC0-6076229C2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692"/>
            <a:ext cx="12192000" cy="5666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484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Regions map">
            <a:extLst>
              <a:ext uri="{FF2B5EF4-FFF2-40B4-BE49-F238E27FC236}">
                <a16:creationId xmlns:a16="http://schemas.microsoft.com/office/drawing/2014/main" id="{12567677-7B9B-AF0D-54A6-0182EB2377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" y="666433"/>
            <a:ext cx="12168188" cy="5703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1474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0FE9D48-91D2-0B56-33AA-42A896745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" y="479608"/>
            <a:ext cx="12068175" cy="6010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888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C060F7FA-29F2-0093-B5A0-0BF824A3CD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060083"/>
              </p:ext>
            </p:extLst>
          </p:nvPr>
        </p:nvGraphicFramePr>
        <p:xfrm>
          <a:off x="0" y="0"/>
          <a:ext cx="12192003" cy="686822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73385">
                  <a:extLst>
                    <a:ext uri="{9D8B030D-6E8A-4147-A177-3AD203B41FA5}">
                      <a16:colId xmlns:a16="http://schemas.microsoft.com/office/drawing/2014/main" val="3497263313"/>
                    </a:ext>
                  </a:extLst>
                </a:gridCol>
                <a:gridCol w="782135">
                  <a:extLst>
                    <a:ext uri="{9D8B030D-6E8A-4147-A177-3AD203B41FA5}">
                      <a16:colId xmlns:a16="http://schemas.microsoft.com/office/drawing/2014/main" val="251016360"/>
                    </a:ext>
                  </a:extLst>
                </a:gridCol>
                <a:gridCol w="1424940">
                  <a:extLst>
                    <a:ext uri="{9D8B030D-6E8A-4147-A177-3AD203B41FA5}">
                      <a16:colId xmlns:a16="http://schemas.microsoft.com/office/drawing/2014/main" val="3469555181"/>
                    </a:ext>
                  </a:extLst>
                </a:gridCol>
                <a:gridCol w="1501140">
                  <a:extLst>
                    <a:ext uri="{9D8B030D-6E8A-4147-A177-3AD203B41FA5}">
                      <a16:colId xmlns:a16="http://schemas.microsoft.com/office/drawing/2014/main" val="3468890351"/>
                    </a:ext>
                  </a:extLst>
                </a:gridCol>
                <a:gridCol w="1661160">
                  <a:extLst>
                    <a:ext uri="{9D8B030D-6E8A-4147-A177-3AD203B41FA5}">
                      <a16:colId xmlns:a16="http://schemas.microsoft.com/office/drawing/2014/main" val="3413792358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3471624941"/>
                    </a:ext>
                  </a:extLst>
                </a:gridCol>
                <a:gridCol w="1821180">
                  <a:extLst>
                    <a:ext uri="{9D8B030D-6E8A-4147-A177-3AD203B41FA5}">
                      <a16:colId xmlns:a16="http://schemas.microsoft.com/office/drawing/2014/main" val="1027760798"/>
                    </a:ext>
                  </a:extLst>
                </a:gridCol>
                <a:gridCol w="2042163">
                  <a:extLst>
                    <a:ext uri="{9D8B030D-6E8A-4147-A177-3AD203B41FA5}">
                      <a16:colId xmlns:a16="http://schemas.microsoft.com/office/drawing/2014/main" val="638898491"/>
                    </a:ext>
                  </a:extLst>
                </a:gridCol>
              </a:tblGrid>
              <a:tr h="34061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</a:rPr>
                        <a:t>Сервис</a:t>
                      </a:r>
                      <a:endParaRPr lang="ru-RU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</a:rPr>
                        <a:t>Бесплатное место</a:t>
                      </a:r>
                      <a:endParaRPr lang="ru-RU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</a:rPr>
                        <a:t>Платные планы</a:t>
                      </a:r>
                      <a:endParaRPr lang="ru-RU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</a:rPr>
                        <a:t>Безопасность</a:t>
                      </a:r>
                      <a:endParaRPr lang="ru-RU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</a:rPr>
                        <a:t>Поддержка устройств</a:t>
                      </a:r>
                      <a:endParaRPr lang="ru-RU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</a:rPr>
                        <a:t>Совместная работа</a:t>
                      </a:r>
                      <a:endParaRPr lang="ru-RU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</a:rPr>
                        <a:t>Интеграция с другими сервисами</a:t>
                      </a:r>
                      <a:endParaRPr lang="ru-RU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</a:rPr>
                        <a:t>Особенности</a:t>
                      </a:r>
                      <a:endParaRPr lang="ru-RU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extLst>
                  <a:ext uri="{0D108BD9-81ED-4DB2-BD59-A6C34878D82A}">
                    <a16:rowId xmlns:a16="http://schemas.microsoft.com/office/drawing/2014/main" val="1570945656"/>
                  </a:ext>
                </a:extLst>
              </a:tr>
              <a:tr h="9433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</a:rPr>
                        <a:t>Google Drive</a:t>
                      </a:r>
                      <a:endParaRPr lang="ru-RU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</a:rPr>
                        <a:t>15 ГБ</a:t>
                      </a:r>
                      <a:endParaRPr lang="ru-RU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от $1.99/мес (100 ГБ)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Высокая (шифрование SSL)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Все устройства (Windows, Mac, iOS, Android)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Да</a:t>
                      </a:r>
                      <a:r>
                        <a:rPr lang="en-US" sz="1100" kern="100">
                          <a:effectLst/>
                        </a:rPr>
                        <a:t>, Google Docs, Sheets, Slides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Интеграция с</a:t>
                      </a:r>
                      <a:r>
                        <a:rPr lang="en-US" sz="1100" kern="100">
                          <a:effectLst/>
                        </a:rPr>
                        <a:t> Google Workspace, Gmail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Бесплатное хранилище для Google сервисов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extLst>
                  <a:ext uri="{0D108BD9-81ED-4DB2-BD59-A6C34878D82A}">
                    <a16:rowId xmlns:a16="http://schemas.microsoft.com/office/drawing/2014/main" val="2637647598"/>
                  </a:ext>
                </a:extLst>
              </a:tr>
              <a:tr h="102946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 err="1">
                          <a:effectLst/>
                        </a:rPr>
                        <a:t>Dropbox</a:t>
                      </a:r>
                      <a:endParaRPr lang="ru-RU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</a:rPr>
                        <a:t>2 ГБ</a:t>
                      </a:r>
                      <a:endParaRPr lang="ru-RU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от $9.99/мес (2 ТБ)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Высокая (шифрование AES-256)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Все устройства (Windows, Mac, iOS, Android)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Да, документы, таблицы, PDF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Интеграция с</a:t>
                      </a:r>
                      <a:r>
                        <a:rPr lang="en-US" sz="1100" kern="100">
                          <a:effectLst/>
                        </a:rPr>
                        <a:t> Microsoft Office, Slack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Легкость в обмене файлами и синхронизации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extLst>
                  <a:ext uri="{0D108BD9-81ED-4DB2-BD59-A6C34878D82A}">
                    <a16:rowId xmlns:a16="http://schemas.microsoft.com/office/drawing/2014/main" val="3855570255"/>
                  </a:ext>
                </a:extLst>
              </a:tr>
              <a:tr h="102946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 err="1">
                          <a:effectLst/>
                        </a:rPr>
                        <a:t>OneDrive</a:t>
                      </a:r>
                      <a:endParaRPr lang="ru-RU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</a:rPr>
                        <a:t>5 ГБ</a:t>
                      </a:r>
                      <a:endParaRPr lang="ru-RU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от $1.99/мес (100 ГБ)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Высокая (шифрование SSL)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Windows, Mac, iOS, Android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Да, Office 365, Teams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Интеграция с</a:t>
                      </a:r>
                      <a:r>
                        <a:rPr lang="en-US" sz="1100" kern="100">
                          <a:effectLst/>
                        </a:rPr>
                        <a:t> Microsoft Office, Teams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Хорошо интегрируется с Windows и Microsoft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extLst>
                  <a:ext uri="{0D108BD9-81ED-4DB2-BD59-A6C34878D82A}">
                    <a16:rowId xmlns:a16="http://schemas.microsoft.com/office/drawing/2014/main" val="253374740"/>
                  </a:ext>
                </a:extLst>
              </a:tr>
              <a:tr h="9433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</a:rPr>
                        <a:t>Box</a:t>
                      </a:r>
                      <a:endParaRPr lang="ru-RU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</a:rPr>
                        <a:t>10 ГБ</a:t>
                      </a:r>
                      <a:endParaRPr lang="ru-RU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от $5.80/мес (100 ГБ)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Очень высокая (двухфакторная аутентификация)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Все устройства (Windows, Mac, iOS, Android)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Да, документы, рабочие группы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Интеграция с</a:t>
                      </a:r>
                      <a:r>
                        <a:rPr lang="en-US" sz="1100" kern="100">
                          <a:effectLst/>
                        </a:rPr>
                        <a:t> Google Workspace, Microsoft 365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Простое совместное использование файлов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extLst>
                  <a:ext uri="{0D108BD9-81ED-4DB2-BD59-A6C34878D82A}">
                    <a16:rowId xmlns:a16="http://schemas.microsoft.com/office/drawing/2014/main" val="1747823515"/>
                  </a:ext>
                </a:extLst>
              </a:tr>
              <a:tr h="85724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 err="1">
                          <a:effectLst/>
                        </a:rPr>
                        <a:t>iCloud</a:t>
                      </a:r>
                      <a:endParaRPr lang="ru-RU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</a:rPr>
                        <a:t>5 ГБ</a:t>
                      </a:r>
                      <a:endParaRPr lang="ru-RU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от $0.99/мес (50 ГБ)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Высокая (шифрование SSL)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Для устройств Apple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Да</a:t>
                      </a:r>
                      <a:r>
                        <a:rPr lang="en-US" sz="1100" kern="100">
                          <a:effectLst/>
                        </a:rPr>
                        <a:t>, iWork (Pages, Numbers, Keynote)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Интеграция с продуктами Apple (Mac, iOS)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Идеально для пользователей Apple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extLst>
                  <a:ext uri="{0D108BD9-81ED-4DB2-BD59-A6C34878D82A}">
                    <a16:rowId xmlns:a16="http://schemas.microsoft.com/office/drawing/2014/main" val="2851184485"/>
                  </a:ext>
                </a:extLst>
              </a:tr>
              <a:tr h="85724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</a:rPr>
                        <a:t>Amazon Drive</a:t>
                      </a:r>
                      <a:endParaRPr lang="ru-RU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</a:rPr>
                        <a:t>5 ГБ</a:t>
                      </a:r>
                      <a:endParaRPr lang="ru-RU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от $19.99/год (100 ГБ)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Высокая (шифрование SSL)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Все устройства (Windows, Mac, iOS, Android)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Да, обмен фото, видео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Интеграция с Amazon Photos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Удобен для хранения медиафайлов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extLst>
                  <a:ext uri="{0D108BD9-81ED-4DB2-BD59-A6C34878D82A}">
                    <a16:rowId xmlns:a16="http://schemas.microsoft.com/office/drawing/2014/main" val="3394285249"/>
                  </a:ext>
                </a:extLst>
              </a:tr>
              <a:tr h="85724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</a:rPr>
                        <a:t>Mega</a:t>
                      </a:r>
                      <a:endParaRPr lang="ru-RU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</a:rPr>
                        <a:t>50 ГБ</a:t>
                      </a:r>
                      <a:endParaRPr lang="ru-RU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от $5.99/мес (400 ГБ)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Очень высокая (шифрование AES-128)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Все устройства (Windows, Mac, iOS, Android)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Да, обмен файлами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Интеграция с</a:t>
                      </a:r>
                      <a:r>
                        <a:rPr lang="en-US" sz="1100" kern="100">
                          <a:effectLst/>
                        </a:rPr>
                        <a:t> Google Drive, Dropbox</a:t>
                      </a:r>
                      <a:endParaRPr lang="ru-RU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</a:rPr>
                        <a:t>Очень высокое бесплатное хранилище</a:t>
                      </a:r>
                      <a:endParaRPr lang="ru-RU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886" marR="20886" marT="0" marB="0"/>
                </a:tc>
                <a:extLst>
                  <a:ext uri="{0D108BD9-81ED-4DB2-BD59-A6C34878D82A}">
                    <a16:rowId xmlns:a16="http://schemas.microsoft.com/office/drawing/2014/main" val="957220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1962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  <a:alpha val="8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6BA1B18-12E8-20EE-A0C3-0A1AC5B21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46987" cy="334518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09EF934-D1BA-5A4B-0427-D24EC53DE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012" y="0"/>
            <a:ext cx="5946987" cy="3345180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57F081AE-1ADA-51AC-5FB5-D56F33253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5012" y="3512818"/>
            <a:ext cx="5946988" cy="3345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D02D890E-5C89-C8D3-18EB-BABC56341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12820"/>
            <a:ext cx="5943600" cy="3345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2688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8B0C5BA-6648-C247-C040-86C640735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42760" cy="388552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CA264B8-0C8E-9F5C-CF4D-CC679C3ECF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3658" y="3843382"/>
            <a:ext cx="5788342" cy="301461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EAF9F72-3F2A-C407-3C4C-66A523906E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1134" y="79102"/>
            <a:ext cx="4414630" cy="3764280"/>
          </a:xfrm>
          <a:prstGeom prst="rect">
            <a:avLst/>
          </a:prstGeom>
        </p:spPr>
      </p:pic>
      <p:pic>
        <p:nvPicPr>
          <p:cNvPr id="4098" name="Picture 2" descr="Куда идут «облака» | КомпьютерПресс">
            <a:extLst>
              <a:ext uri="{FF2B5EF4-FFF2-40B4-BE49-F238E27FC236}">
                <a16:creationId xmlns:a16="http://schemas.microsoft.com/office/drawing/2014/main" id="{C313EB13-B8BD-D80C-BFE9-CE58E7E0C7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396" y="3558540"/>
            <a:ext cx="6486525" cy="3299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653655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361</Words>
  <Application>Microsoft Office PowerPoint</Application>
  <PresentationFormat>Широкоэкранный</PresentationFormat>
  <Paragraphs>72</Paragraphs>
  <Slides>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Goll Roberto</dc:creator>
  <cp:lastModifiedBy>Goll Roberto</cp:lastModifiedBy>
  <cp:revision>1</cp:revision>
  <dcterms:created xsi:type="dcterms:W3CDTF">2025-02-17T16:07:39Z</dcterms:created>
  <dcterms:modified xsi:type="dcterms:W3CDTF">2025-02-17T16:26:48Z</dcterms:modified>
</cp:coreProperties>
</file>